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7315200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52360" y="0"/>
            <a:ext cx="4739335" cy="10058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005840"/>
            <a:ext cx="1205453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371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28600"/>
            <a:ext cx="54864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86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D1B3E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"/>
            <a:ext cx="10515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Title: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00200"/>
            <a:ext cx="91440" cy="228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6304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400" b="1">
                <a:solidFill>
                  <a:srgbClr val="1A73E8"/>
                </a:solidFill>
                <a:latin typeface="Segoe UI"/>
              </a:defRPr>
            </a:pPr>
            <a:r>
              <a:t>AI Project Management Agent: From Planning to Execution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57400"/>
            <a:ext cx="91440" cy="228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92024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400" b="1">
                <a:solidFill>
                  <a:srgbClr val="1A73E8"/>
                </a:solidFill>
                <a:latin typeface="Segoe UI"/>
              </a:defRPr>
            </a:pPr>
            <a:r>
              <a:t>Subtitle: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14600"/>
            <a:ext cx="91440" cy="228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37744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400" b="1">
                <a:solidFill>
                  <a:srgbClr val="1A73E8"/>
                </a:solidFill>
                <a:latin typeface="Segoe UI"/>
              </a:defRPr>
            </a:pPr>
            <a:r>
              <a:t>Using Preference Fine-Tuning (PFT) + Reinforcement Fine-Tuning (RFT) with Jira, GitHub, Notion, Slack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71800"/>
            <a:ext cx="91440" cy="228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3464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400" b="1">
                <a:solidFill>
                  <a:srgbClr val="1A73E8"/>
                </a:solidFill>
                <a:latin typeface="Segoe UI"/>
              </a:defRPr>
            </a:pPr>
            <a:r>
              <a:t>Key Message: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429000"/>
            <a:ext cx="91440" cy="228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9184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400" b="1">
                <a:solidFill>
                  <a:srgbClr val="1A73E8"/>
                </a:solidFill>
                <a:latin typeface="Segoe UI"/>
              </a:defRPr>
            </a:pPr>
            <a:r>
              <a:t>Turn LLMs into senior PM copilots that can plan, track, and communicate across your real tools.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75120"/>
            <a:ext cx="8229600" cy="182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6675120"/>
            <a:ext cx="3962095" cy="1828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64240" y="6629400"/>
            <a:ext cx="274320" cy="2743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0" y="66476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6934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FFFFFF"/>
                </a:solidFill>
                <a:latin typeface="Segoe UI"/>
              </a:defRPr>
            </a:pPr>
            <a:r>
              <a:t>AI Project Management Agent • PFT + RFT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7315200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52360" y="0"/>
            <a:ext cx="4739335" cy="10058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005840"/>
            <a:ext cx="1205453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371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28600"/>
            <a:ext cx="54864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86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D1B3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"/>
            <a:ext cx="10515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PM work is: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15544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Fragmented across Jira, GitHub, Notion, Slack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011680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920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Full of repetitive status updates and manual planning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468880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Often inconsistent in quality between teams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71800"/>
            <a:ext cx="91440" cy="228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3464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400" b="1">
                <a:solidFill>
                  <a:srgbClr val="1A73E8"/>
                </a:solidFill>
                <a:latin typeface="Segoe UI"/>
              </a:defRPr>
            </a:pPr>
            <a:r>
              <a:t>LLMs today: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383280"/>
            <a:ext cx="164592" cy="164592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Can "talk about" projects,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840479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49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But aren't reliably grounded in your tickets, repos, docs, and chats.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43400"/>
            <a:ext cx="91440" cy="228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400" b="1">
                <a:solidFill>
                  <a:srgbClr val="1A73E8"/>
                </a:solidFill>
                <a:latin typeface="Segoe UI"/>
              </a:defRPr>
            </a:pPr>
            <a:r>
              <a:t>Opportunity: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00600"/>
            <a:ext cx="91440" cy="228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66344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400" b="1">
                <a:solidFill>
                  <a:srgbClr val="1A73E8"/>
                </a:solidFill>
                <a:latin typeface="Segoe UI"/>
              </a:defRPr>
            </a:pPr>
            <a:r>
              <a:t>An agent that can understand the project, propose realistic plans, and operate tools safely.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75120"/>
            <a:ext cx="8229600" cy="182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6675120"/>
            <a:ext cx="3962095" cy="1828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64240" y="6629400"/>
            <a:ext cx="274320" cy="2743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0" y="66476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934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FFFFFF"/>
                </a:solidFill>
                <a:latin typeface="Segoe UI"/>
              </a:defRPr>
            </a:pPr>
            <a:r>
              <a:t>AI Project Management Agent • PFT + RFT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7315200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52360" y="0"/>
            <a:ext cx="4739335" cy="10058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005840"/>
            <a:ext cx="1205453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371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28600"/>
            <a:ext cx="54864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86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D1B3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"/>
            <a:ext cx="10515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1. Enterprise-grade planning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15544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Hierarchical plans, realistic timelines, clear risks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011680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920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Tool-native execution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468880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Create/update Jira issues, GitHub PR summaries, Notion specs, Slack updates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926080"/>
            <a:ext cx="164592" cy="164592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Reliable &amp; auditable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3832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Human-in-the-loop approvals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840479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49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Policy guardrails and logs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297679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Composable architecture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4754879"/>
            <a:ext cx="164592" cy="164592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63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Swap model, tools, or data sources without redoing everything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75120"/>
            <a:ext cx="8229600" cy="182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6675120"/>
            <a:ext cx="3962095" cy="1828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64240" y="6629400"/>
            <a:ext cx="274320" cy="2743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0" y="66476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934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FFFFFF"/>
                </a:solidFill>
                <a:latin typeface="Segoe UI"/>
              </a:defRPr>
            </a:pPr>
            <a:r>
              <a:t>AI Project Management Agent • PFT + RFT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7315200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52360" y="0"/>
            <a:ext cx="4739335" cy="10058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005840"/>
            <a:ext cx="1205453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371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28600"/>
            <a:ext cx="54864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86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D1B3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"/>
            <a:ext cx="10515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Four main layers: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15544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Foundation &amp; Alignment Layer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011680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920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Base LLM + SFT + PFT (DPO) + safety policies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468880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Reasoning &amp; Planning Layer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926080"/>
            <a:ext cx="164592" cy="164592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Project planner, timeline estimator, risk engine, dependency resolver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3832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Tool &amp; Data Layer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840479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49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Jira, GitHub, Notion, Slack connectors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297679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Vector search over project docs, tickets, specs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4754879"/>
            <a:ext cx="164592" cy="164592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63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Orchestration &amp; UX Layer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5212079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Agent controller, workflows, approvals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5669279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577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UI: chat, side-panel in Jira/Notion, Slack app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75120"/>
            <a:ext cx="8229600" cy="182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6675120"/>
            <a:ext cx="3962095" cy="1828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064240" y="6629400"/>
            <a:ext cx="274320" cy="2743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81360" y="66476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6934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FFFFFF"/>
                </a:solidFill>
                <a:latin typeface="Segoe UI"/>
              </a:defRPr>
            </a:pPr>
            <a:r>
              <a:t>AI Project Management Agent • PFT + RFT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7315200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52360" y="0"/>
            <a:ext cx="4739335" cy="10058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005840"/>
            <a:ext cx="1205453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371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28600"/>
            <a:ext cx="54864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86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D1B3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"/>
            <a:ext cx="10515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- Start with a strong base LLM (general + coding).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15544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SFT on: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011680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920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PRDs, sprint docs, design docs, runbooks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468880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PFT / DPO on preference datasets: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926080"/>
            <a:ext cx="164592" cy="164592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Good vs bad project breakdowns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3832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Strong vs weak timelines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840479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49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Good vs bad risk registers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297679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High vs low quality stakeholder comms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00600"/>
            <a:ext cx="91440" cy="228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66344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400" b="1">
                <a:solidFill>
                  <a:srgbClr val="1A73E8"/>
                </a:solidFill>
                <a:latin typeface="Segoe UI"/>
              </a:defRPr>
            </a:pPr>
            <a:r>
              <a:t>Outcome: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257800"/>
            <a:ext cx="91440" cy="228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12064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400" b="1">
                <a:solidFill>
                  <a:srgbClr val="1A73E8"/>
                </a:solidFill>
                <a:latin typeface="Segoe UI"/>
              </a:defRPr>
            </a:pPr>
            <a:r>
              <a:t>The model "thinks like a senior PM."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8229600" cy="182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6675120"/>
            <a:ext cx="3962095" cy="1828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064240" y="6629400"/>
            <a:ext cx="274320" cy="2743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81360" y="66476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6934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FFFFFF"/>
                </a:solidFill>
                <a:latin typeface="Segoe UI"/>
              </a:defRPr>
            </a:pPr>
            <a:r>
              <a:t>AI Project Management Agent • PFT + RFT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7315200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52360" y="0"/>
            <a:ext cx="4739335" cy="10058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005840"/>
            <a:ext cx="1205453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371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28600"/>
            <a:ext cx="54864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86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D1B3E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"/>
            <a:ext cx="10515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- Offline environment that simulates: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15544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Jira: create/update tickets, change status, assign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011680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920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GitHub: read PR metadata, post summary comments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468880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Notion: read/write pages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926080"/>
            <a:ext cx="164592" cy="164592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Slack: draft &amp; send updates (with approval)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3832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Reward examples: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840479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49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+1 if the right Jira field is set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297679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+1 if the right repo/branch is referenced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4754879"/>
            <a:ext cx="164592" cy="164592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63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+1 if Slack summary matches actual issue state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5212079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-1 if invalid API calls or inconsistent states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715000"/>
            <a:ext cx="91440" cy="228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57784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400" b="1">
                <a:solidFill>
                  <a:srgbClr val="1A73E8"/>
                </a:solidFill>
                <a:latin typeface="Segoe UI"/>
              </a:defRPr>
            </a:pPr>
            <a:r>
              <a:t>Outcome: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75120"/>
            <a:ext cx="8229600" cy="182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6675120"/>
            <a:ext cx="3962095" cy="1828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064240" y="6629400"/>
            <a:ext cx="274320" cy="2743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81360" y="66476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6934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FFFFFF"/>
                </a:solidFill>
                <a:latin typeface="Segoe UI"/>
              </a:defRPr>
            </a:pPr>
            <a:r>
              <a:t>AI Project Management Agent • PFT + RFT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7315200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52360" y="0"/>
            <a:ext cx="4739335" cy="10058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005840"/>
            <a:ext cx="1205453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371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28600"/>
            <a:ext cx="54864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86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D1B3E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"/>
            <a:ext cx="10515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- LLM Core (PFT + RFT trained)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15544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Agent Orchestrator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011680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920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Decides when to call tools vs. reason internally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468880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Memory &amp; Retrieval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926080"/>
            <a:ext cx="164592" cy="164592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Vector DB over specs, tickets, docs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3832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Tool Adapters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840479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49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JiraClient, GitHubClient, NotionClient, SlackClient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297679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Policy &amp; Safety Layer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4754879"/>
            <a:ext cx="164592" cy="164592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63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Access scope, rate limiting, approval policy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75120"/>
            <a:ext cx="8229600" cy="182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6675120"/>
            <a:ext cx="3962095" cy="1828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64240" y="6629400"/>
            <a:ext cx="274320" cy="2743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0" y="66476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934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FFFFFF"/>
                </a:solidFill>
                <a:latin typeface="Segoe UI"/>
              </a:defRPr>
            </a:pPr>
            <a:r>
              <a:t>AI Project Management Agent • PFT + RFT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7315200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52360" y="0"/>
            <a:ext cx="4739335" cy="10058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005840"/>
            <a:ext cx="1205453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371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28600"/>
            <a:ext cx="54864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86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D1B3E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"/>
            <a:ext cx="10515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1. User asks: "Help me plan Q3 release for Feature X."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15544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Agent: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011680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920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Retrieves relevant docs (Notion/Confluence)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468880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Fetches Jira epics + open bugs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926080"/>
            <a:ext cx="164592" cy="164592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Checks GitHub branches/PRs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3832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Fetches last Slack status updates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840479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49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LLM: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297679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Synthesizes a project plan, timelines, risks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4754879"/>
            <a:ext cx="164592" cy="164592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63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Proposes Jira changes &amp; Slack message drafts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5212079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Human: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5669279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577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Reviews &amp; approves changes / messages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75120"/>
            <a:ext cx="8229600" cy="182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6675120"/>
            <a:ext cx="3962095" cy="1828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064240" y="6629400"/>
            <a:ext cx="274320" cy="2743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81360" y="66476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6934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FFFFFF"/>
                </a:solidFill>
                <a:latin typeface="Segoe UI"/>
              </a:defRPr>
            </a:pPr>
            <a:r>
              <a:t>AI Project Management Agent • PFT + RFT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7315200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52360" y="0"/>
            <a:ext cx="4739335" cy="10058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005840"/>
            <a:ext cx="1205453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371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28600"/>
            <a:ext cx="54864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86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D1B3E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"/>
            <a:ext cx="10515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00200"/>
            <a:ext cx="91440" cy="228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6304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400" b="1">
                <a:solidFill>
                  <a:srgbClr val="1A73E8"/>
                </a:solidFill>
                <a:latin typeface="Segoe UI"/>
              </a:defRPr>
            </a:pPr>
            <a:r>
              <a:t>"Create a 3-sprint plan to ship Feature X."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57400"/>
            <a:ext cx="91440" cy="228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92024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400" b="1">
                <a:solidFill>
                  <a:srgbClr val="1A73E8"/>
                </a:solidFill>
                <a:latin typeface="Segoe UI"/>
              </a:defRPr>
            </a:pPr>
            <a:r>
              <a:t>Agent: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4688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Gets existing Jira epics/issues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926080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Groups into sprints by priority, dependencies, team capacity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383280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Proposes new tickets for gaps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840479"/>
            <a:ext cx="164592" cy="164592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49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Writes a Slack summary for the team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43400"/>
            <a:ext cx="91440" cy="228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400" b="1">
                <a:solidFill>
                  <a:srgbClr val="1A73E8"/>
                </a:solidFill>
                <a:latin typeface="Segoe UI"/>
              </a:defRPr>
            </a:pPr>
            <a:r>
              <a:t>Human approves: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4754879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63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Agent creates/updates Jira issues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5212079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Posts Slack summary draft to a channel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8229600" cy="182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6675120"/>
            <a:ext cx="3962095" cy="1828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064240" y="6629400"/>
            <a:ext cx="274320" cy="2743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81360" y="66476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6934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FFFFFF"/>
                </a:solidFill>
                <a:latin typeface="Segoe UI"/>
              </a:defRPr>
            </a:pPr>
            <a:r>
              <a:t>AI Project Management Agent • PFT + RFT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7315200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52360" y="0"/>
            <a:ext cx="4739335" cy="10058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005840"/>
            <a:ext cx="1205453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371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28600"/>
            <a:ext cx="54864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86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D1B3E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"/>
            <a:ext cx="10515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00200"/>
            <a:ext cx="91440" cy="228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6304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400" b="1">
                <a:solidFill>
                  <a:srgbClr val="1A73E8"/>
                </a:solidFill>
                <a:latin typeface="Segoe UI"/>
              </a:defRPr>
            </a:pPr>
            <a:r>
              <a:t>"List top 10 risks for Feature X and mitigation plans."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57400"/>
            <a:ext cx="91440" cy="228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92024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400" b="1">
                <a:solidFill>
                  <a:srgbClr val="1A73E8"/>
                </a:solidFill>
                <a:latin typeface="Segoe UI"/>
              </a:defRPr>
            </a:pPr>
            <a:r>
              <a:t>Agent: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4688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Reads spec, Jira issues, known blockers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926080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Uses risk-register patterns to propose: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383280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Risk name, impact, probability, owner, mitigation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840479"/>
            <a:ext cx="164592" cy="164592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49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Drafts a Notion "Risk Register" section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43400"/>
            <a:ext cx="91440" cy="228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400" b="1">
                <a:solidFill>
                  <a:srgbClr val="1A73E8"/>
                </a:solidFill>
                <a:latin typeface="Segoe UI"/>
              </a:defRPr>
            </a:pPr>
            <a:r>
              <a:t>Human approves and edits as needed.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75120"/>
            <a:ext cx="8229600" cy="182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6675120"/>
            <a:ext cx="3962095" cy="1828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64240" y="6629400"/>
            <a:ext cx="274320" cy="2743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0" y="66476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6934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FFFFFF"/>
                </a:solidFill>
                <a:latin typeface="Segoe UI"/>
              </a:defRPr>
            </a:pPr>
            <a:r>
              <a:t>AI Project Management Agent • PFT + RFT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7315200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52360" y="0"/>
            <a:ext cx="4739335" cy="10058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005840"/>
            <a:ext cx="1205453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371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28600"/>
            <a:ext cx="54864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86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D1B3E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"/>
            <a:ext cx="10515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- Planning quality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15544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Human rating of plans (clarity, realism, coverage)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011680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920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Tool correctness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468880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% of successful Jira/GitHub/Notion actions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926080"/>
            <a:ext cx="164592" cy="164592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Latency &amp; UX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3832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Time from request to draft plan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840479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49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Adoption &amp; satisfaction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297679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PM/EM satisfaction scores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4754879"/>
            <a:ext cx="164592" cy="164592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63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Reduction in manual PM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75120"/>
            <a:ext cx="8229600" cy="182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6675120"/>
            <a:ext cx="3962095" cy="1828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64240" y="6629400"/>
            <a:ext cx="274320" cy="2743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0" y="66476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934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FFFFFF"/>
                </a:solidFill>
                <a:latin typeface="Segoe UI"/>
              </a:defRPr>
            </a:pPr>
            <a:r>
              <a:t>AI Project Management Agent • PFT + RFT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7315200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52360" y="0"/>
            <a:ext cx="4739335" cy="10058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005840"/>
            <a:ext cx="1205453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371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28600"/>
            <a:ext cx="54864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86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D1B3E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"/>
            <a:ext cx="10515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- Scoped permissions per tool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15544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All actions logged with: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011680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920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Who requested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468880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What the agent proposed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926080"/>
            <a:ext cx="164592" cy="164592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What was executed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3832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291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Sensitive operations require: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840479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49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Approval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297679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Or "draft-only" mode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75120"/>
            <a:ext cx="8229600" cy="182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6675120"/>
            <a:ext cx="3962095" cy="1828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64240" y="6629400"/>
            <a:ext cx="274320" cy="2743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0" y="66476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6934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FFFFFF"/>
                </a:solidFill>
                <a:latin typeface="Segoe UI"/>
              </a:defRPr>
            </a:pPr>
            <a:r>
              <a:t>AI Project Management Agent • PFT + RFT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7315200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52360" y="0"/>
            <a:ext cx="4739335" cy="10058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005840"/>
            <a:ext cx="1205453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371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28600"/>
            <a:ext cx="54864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86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D1B3E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"/>
            <a:ext cx="10515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- Phase 1: Read-only advisor (no writes, only suggestions)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1554480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Phase 2: Draft creator (Jira/Slack drafts, Notion pages)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011680"/>
            <a:ext cx="164592" cy="16459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920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Phase 3: Limited auto-execution with guardrails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468880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100">
                <a:solidFill>
                  <a:srgbClr val="212121"/>
                </a:solidFill>
                <a:latin typeface="Segoe UI"/>
              </a:defRPr>
            </a:pPr>
            <a:r>
              <a:t>Phase 4: Org-wide deployment + custom policies &amp; KPIs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8229600" cy="182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6675120"/>
            <a:ext cx="3962095" cy="1828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64240" y="6629400"/>
            <a:ext cx="274320" cy="2743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0" y="66476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6934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FFFFFF"/>
                </a:solidFill>
                <a:latin typeface="Segoe UI"/>
              </a:defRPr>
            </a:pPr>
            <a:r>
              <a:t>AI Project Management Agent • PFT + RFT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7315200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52360" y="0"/>
            <a:ext cx="4739335" cy="10058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005840"/>
            <a:ext cx="1205453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371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28600"/>
            <a:ext cx="54864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86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D1B3E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"/>
            <a:ext cx="10515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End of Slide Deck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8229600" cy="182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6675120"/>
            <a:ext cx="3962095" cy="1828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6629400"/>
            <a:ext cx="274320" cy="2743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66476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93408"/>
            <a:ext cx="4572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FFFFFF"/>
                </a:solidFill>
                <a:latin typeface="Segoe UI"/>
              </a:defRPr>
            </a:pPr>
            <a:r>
              <a:t>AI Project Management Agent • PFT + RFT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